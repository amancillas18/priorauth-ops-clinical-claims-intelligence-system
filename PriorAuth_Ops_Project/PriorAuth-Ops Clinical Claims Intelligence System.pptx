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6E7E29-FDCE-4981-A5A5-B47B4054C16F}" v="3" dt="2026-05-16T02:31:16.431"/>
    <p1510:client id="{A0F93F8A-FF28-494D-A015-C8F00FF00137}" v="274" dt="2026-05-16T03:16:27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93" y="465766"/>
            <a:ext cx="11320731" cy="707337"/>
          </a:xfrm>
        </p:spPr>
        <p:txBody>
          <a:bodyPr>
            <a:normAutofit/>
          </a:bodyPr>
          <a:lstStyle/>
          <a:p>
            <a:r>
              <a:rPr lang="en-US" sz="3000">
                <a:ea typeface="+mj-lt"/>
                <a:cs typeface="+mj-lt"/>
              </a:rPr>
              <a:t>PA rejections triggered a $1.2M revenue leak in Q3 specialty operations</a:t>
            </a:r>
            <a:endParaRPr lang="en-US" sz="3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BE524-9E47-5F5F-9355-04B357AC7CBB}"/>
              </a:ext>
            </a:extLst>
          </p:cNvPr>
          <p:cNvSpPr txBox="1"/>
          <p:nvPr/>
        </p:nvSpPr>
        <p:spPr>
          <a:xfrm>
            <a:off x="337038" y="1182538"/>
            <a:ext cx="93895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2">
                    <a:lumMod val="25000"/>
                  </a:schemeClr>
                </a:solidFill>
                <a:ea typeface="+mn-lt"/>
                <a:cs typeface="+mn-lt"/>
              </a:rPr>
              <a:t>Operational Audit of 10,000 Pharmacy Claims: Q3 Performance Review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23B3E2-01BE-314B-3A07-AF80A617E3FF}"/>
              </a:ext>
            </a:extLst>
          </p:cNvPr>
          <p:cNvSpPr/>
          <p:nvPr/>
        </p:nvSpPr>
        <p:spPr>
          <a:xfrm>
            <a:off x="340080" y="1553585"/>
            <a:ext cx="4323436" cy="2725614"/>
          </a:xfrm>
          <a:prstGeom prst="roundRect">
            <a:avLst/>
          </a:prstGeom>
          <a:solidFill>
            <a:srgbClr val="FFFFFF">
              <a:alpha val="2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B923C-E61B-23E3-240D-DDBA853E5B02}"/>
              </a:ext>
            </a:extLst>
          </p:cNvPr>
          <p:cNvSpPr txBox="1"/>
          <p:nvPr/>
        </p:nvSpPr>
        <p:spPr>
          <a:xfrm>
            <a:off x="820615" y="1817354"/>
            <a:ext cx="3471025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700"/>
              <a:t>TOTAL ESTIMATED REVENUE LOSS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A6049-8E41-2FA1-21C8-08CAD37D60A4}"/>
              </a:ext>
            </a:extLst>
          </p:cNvPr>
          <p:cNvSpPr txBox="1"/>
          <p:nvPr/>
        </p:nvSpPr>
        <p:spPr>
          <a:xfrm>
            <a:off x="1409534" y="2306736"/>
            <a:ext cx="229153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500" b="1">
                <a:solidFill>
                  <a:srgbClr val="FF0000"/>
                </a:solidFill>
              </a:rPr>
              <a:t>$</a:t>
            </a:r>
            <a:r>
              <a:rPr lang="en-US" sz="2500" b="1">
                <a:solidFill>
                  <a:srgbClr val="FF0000"/>
                </a:solidFill>
                <a:ea typeface="+mn-lt"/>
                <a:cs typeface="+mn-lt"/>
              </a:rPr>
              <a:t>1,197,600</a:t>
            </a:r>
            <a:endParaRPr lang="en-US" sz="2500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3F4193-8761-ADC2-71D5-E1FD313C47FE}"/>
              </a:ext>
            </a:extLst>
          </p:cNvPr>
          <p:cNvSpPr txBox="1"/>
          <p:nvPr/>
        </p:nvSpPr>
        <p:spPr>
          <a:xfrm>
            <a:off x="689007" y="2968095"/>
            <a:ext cx="36195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150"/>
              <a:t>998 Abandoned Specialty Claims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4F4CCB-D924-24BB-FE66-8D620D4867B8}"/>
              </a:ext>
            </a:extLst>
          </p:cNvPr>
          <p:cNvSpPr txBox="1"/>
          <p:nvPr/>
        </p:nvSpPr>
        <p:spPr>
          <a:xfrm>
            <a:off x="1414787" y="4477717"/>
            <a:ext cx="915892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Specialty Friction:</a:t>
            </a:r>
            <a:r>
              <a:rPr lang="en-US" dirty="0">
                <a:ea typeface="+mn-lt"/>
                <a:cs typeface="+mn-lt"/>
              </a:rPr>
              <a:t> Administrative rejections are isolated </a:t>
            </a:r>
            <a:r>
              <a:rPr lang="en-US">
                <a:ea typeface="+mn-lt"/>
                <a:cs typeface="+mn-lt"/>
              </a:rPr>
              <a:t>entirely</a:t>
            </a:r>
            <a:r>
              <a:rPr lang="en-US" dirty="0">
                <a:ea typeface="+mn-lt"/>
                <a:cs typeface="+mn-lt"/>
              </a:rPr>
              <a:t> within high-cost specialty therapies.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Patient Deterrence:</a:t>
            </a:r>
            <a:r>
              <a:rPr lang="en-US">
                <a:ea typeface="+mn-lt"/>
                <a:cs typeface="+mn-lt"/>
              </a:rPr>
              <a:t> Lengthy "Documentation Required" rejections are causing patients to walk away from therapy before clinical resolution.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Bottom Line Impact:</a:t>
            </a:r>
            <a:r>
              <a:rPr lang="en-US">
                <a:ea typeface="+mn-lt"/>
                <a:cs typeface="+mn-lt"/>
              </a:rPr>
              <a:t> The current manual PA process is creating a seven-figure revenue leak that is 100% preventable via clinical automation.</a:t>
            </a:r>
            <a:endParaRPr lang="en-US"/>
          </a:p>
          <a:p>
            <a:pPr algn="l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C51BE3-F8FC-B50B-70FD-9A19D9C4F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269" y="1552754"/>
            <a:ext cx="6881576" cy="273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FBE1C-38DA-7497-9DD0-58BA1983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ea typeface="+mj-lt"/>
                <a:cs typeface="+mj-lt"/>
              </a:rPr>
              <a:t>Clinical Exceptions Analysis: Target Core Offenders</a:t>
            </a:r>
            <a:endParaRPr lang="en-US" sz="3000"/>
          </a:p>
        </p:txBody>
      </p:sp>
      <p:pic>
        <p:nvPicPr>
          <p:cNvPr id="3" name="Picture 2" descr="A graph with blue and white bars&#10;&#10;AI-generated content may be incorrect.">
            <a:extLst>
              <a:ext uri="{FF2B5EF4-FFF2-40B4-BE49-F238E27FC236}">
                <a16:creationId xmlns:a16="http://schemas.microsoft.com/office/drawing/2014/main" id="{FECA0CEE-9157-A9B4-DDB5-268CA9EF4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78" y="1386068"/>
            <a:ext cx="7336048" cy="4704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526096-2E56-A44A-A657-C39AA64E400D}"/>
              </a:ext>
            </a:extLst>
          </p:cNvPr>
          <p:cNvSpPr txBox="1"/>
          <p:nvPr/>
        </p:nvSpPr>
        <p:spPr>
          <a:xfrm>
            <a:off x="8531570" y="1386023"/>
            <a:ext cx="3281516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500" b="1">
                <a:ea typeface="+mn-lt"/>
                <a:cs typeface="+mn-lt"/>
              </a:rPr>
              <a:t>Concentrated Exception Failure: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>
                <a:ea typeface="+mn-lt"/>
                <a:cs typeface="+mn-lt"/>
              </a:rPr>
              <a:t>Denial patterns are not uniformly distributed; administrative gridlock is heavily isolated within specific high-volume therapeutic lines.</a:t>
            </a:r>
            <a:endParaRPr lang="en-US" sz="1500" dirty="0"/>
          </a:p>
          <a:p>
            <a:pPr marL="285750" indent="-285750">
              <a:buFont typeface="Arial"/>
              <a:buChar char="•"/>
            </a:pPr>
            <a:r>
              <a:rPr lang="en-US" sz="1500" b="1" dirty="0">
                <a:ea typeface="+mn-lt"/>
                <a:cs typeface="+mn-lt"/>
              </a:rPr>
              <a:t>Incomplete Clinic Submissions:</a:t>
            </a:r>
            <a:r>
              <a:rPr lang="en-US" sz="1500" dirty="0">
                <a:ea typeface="+mn-lt"/>
                <a:cs typeface="+mn-lt"/>
              </a:rPr>
              <a:t> Deeper operational audit reveals that clinical administrative rejections are often caused by missing or incomplete clinical documentation submitted by regional clinics.</a:t>
            </a:r>
            <a:endParaRPr lang="en-US" sz="1500" dirty="0"/>
          </a:p>
          <a:p>
            <a:pPr marL="285750" indent="-285750">
              <a:buFont typeface="Arial"/>
              <a:buChar char="•"/>
            </a:pPr>
            <a:r>
              <a:rPr lang="en-US" sz="1500" b="1">
                <a:ea typeface="+mn-lt"/>
                <a:cs typeface="+mn-lt"/>
              </a:rPr>
              <a:t>The Operational Burden: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>
                <a:ea typeface="+mn-lt"/>
                <a:cs typeface="+mn-lt"/>
              </a:rPr>
              <a:t>Manual tracking of these "Documentation Required" status codes wastes significant pharmacy technician labor hours on telephone tag and faxing.</a:t>
            </a:r>
            <a:endParaRPr lang="en-US" sz="1500" dirty="0"/>
          </a:p>
          <a:p>
            <a:pPr algn="l"/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81008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32D6-414B-F249-4807-D1A507490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841" y="321993"/>
            <a:ext cx="9854242" cy="692960"/>
          </a:xfrm>
        </p:spPr>
        <p:txBody>
          <a:bodyPr>
            <a:normAutofit/>
          </a:bodyPr>
          <a:lstStyle/>
          <a:p>
            <a:r>
              <a:rPr lang="en-US" sz="2600">
                <a:ea typeface="+mj-lt"/>
                <a:cs typeface="+mj-lt"/>
              </a:rPr>
              <a:t>Strategic Recommendations: Mitigating Revenue Leakage via Automation</a:t>
            </a:r>
            <a:endParaRPr lang="en-US" sz="2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CF9100-C023-5975-94E1-93A58896E565}"/>
              </a:ext>
            </a:extLst>
          </p:cNvPr>
          <p:cNvSpPr txBox="1"/>
          <p:nvPr/>
        </p:nvSpPr>
        <p:spPr>
          <a:xfrm>
            <a:off x="263768" y="1304192"/>
            <a:ext cx="11679115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Recommendation 1: Automated ePA Integration.</a:t>
            </a:r>
            <a:r>
              <a:rPr lang="en-US" sz="2400" dirty="0">
                <a:ea typeface="+mn-lt"/>
                <a:cs typeface="+mn-lt"/>
              </a:rPr>
              <a:t> Deploy automated electronic Prior Authorization loops for the "Core Offenders" (Ozempic, Humira) to bypass manual documentation review.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Recommendation 2: The "Clinic Ping" System.</a:t>
            </a:r>
            <a:r>
              <a:rPr lang="en-US" sz="2400">
                <a:ea typeface="+mn-lt"/>
                <a:cs typeface="+mn-lt"/>
              </a:rPr>
              <a:t> Implement an automated SMS/EMR alert that pings regional clinics the moment a submission is flagged as "Incomplete," resolving the documentation gap in real-time.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Recommendation 3: Triage Guardrails.</a:t>
            </a:r>
            <a:r>
              <a:rPr lang="en-US" sz="2400" dirty="0">
                <a:ea typeface="+mn-lt"/>
                <a:cs typeface="+mn-lt"/>
              </a:rPr>
              <a:t> Route any Specialty denial directly to a financial </a:t>
            </a:r>
            <a:r>
              <a:rPr lang="en-US" sz="2400">
                <a:ea typeface="+mn-lt"/>
                <a:cs typeface="+mn-lt"/>
              </a:rPr>
              <a:t>aid</a:t>
            </a:r>
            <a:r>
              <a:rPr lang="en-US" sz="2400" dirty="0">
                <a:ea typeface="+mn-lt"/>
                <a:cs typeface="+mn-lt"/>
              </a:rPr>
              <a:t> dashboard to capture those </a:t>
            </a:r>
            <a:r>
              <a:rPr lang="en-US" sz="2400" b="1" dirty="0">
                <a:ea typeface="+mn-lt"/>
                <a:cs typeface="+mn-lt"/>
              </a:rPr>
              <a:t>998 patients</a:t>
            </a:r>
            <a:r>
              <a:rPr lang="en-US" sz="2400" dirty="0">
                <a:ea typeface="+mn-lt"/>
                <a:cs typeface="+mn-lt"/>
              </a:rPr>
              <a:t> before they leave the pharmacy counter.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The Bottom Line (ROI):</a:t>
            </a:r>
            <a:r>
              <a:rPr lang="en-US" sz="2400">
                <a:ea typeface="+mn-lt"/>
                <a:cs typeface="+mn-lt"/>
              </a:rPr>
              <a:t> Capturing just 35% of currently abandoned therapy cycles results in a projected </a:t>
            </a:r>
            <a:r>
              <a:rPr lang="en-US" sz="2400" b="1">
                <a:ea typeface="+mn-lt"/>
                <a:cs typeface="+mn-lt"/>
              </a:rPr>
              <a:t>+$419,000 annual profit recovery.</a:t>
            </a:r>
            <a:endParaRPr lang="en-US" sz="2400" dirty="0"/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7664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PA rejections triggered a $1.2M revenue leak in Q3 specialty operations</vt:lpstr>
      <vt:lpstr>Clinical Exceptions Analysis: Target Core Offenders</vt:lpstr>
      <vt:lpstr>Strategic Recommendations: Mitigating Revenue Leakage via Automation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121</cp:revision>
  <dcterms:created xsi:type="dcterms:W3CDTF">2026-05-16T02:28:59Z</dcterms:created>
  <dcterms:modified xsi:type="dcterms:W3CDTF">2026-05-16T03:17:59Z</dcterms:modified>
</cp:coreProperties>
</file>